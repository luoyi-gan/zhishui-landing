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gradFill="">
        <a:noFill/>
        <a:effectLst/>
        <a:gradFill rotWithShape="1">
          <a:gsLst>
            <a:gs pos="0">
              <a:srgbClr val="003399"/>
            </a:gs>
            <a:gs pos="50000">
              <a:srgbClr val="0057D9"/>
            </a:gs>
            <a:gs pos="75000">
              <a:srgbClr val="0077FF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-1371600"/>
            <a:ext cx="4572000" cy="4572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57CC"/>
              </a:gs>
              <a:gs pos="100000">
                <a:srgbClr val="0077FF"/>
              </a:gs>
            </a:gsLst>
            <a:lin ang="315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0" y="4572000"/>
            <a:ext cx="4572000" cy="36576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3399"/>
              </a:gs>
              <a:gs pos="100000">
                <a:srgbClr val="002266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5486400"/>
            <a:ext cx="5486400" cy="27432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66BB"/>
              </a:gs>
              <a:gs pos="100000">
                <a:srgbClr val="0088DD"/>
              </a:gs>
            </a:gsLst>
            <a:lin ang="18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914400"/>
            <a:ext cx="137160" cy="13716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B8E0"/>
                </a:solidFill>
                <a:latin typeface="PingFang SC"/>
              </a:rPr>
              <a:t>第十六届三创赛 · 参赛项目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latin typeface="PingFang SC"/>
                <a:gradFill rotate="1">
                  <a:gsLst>
                    <a:gs pos="0">
                      <a:srgbClr val="FFFFFF"/>
                    </a:gs>
                    <a:gs pos="100000">
                      <a:srgbClr val="A8D4FF"/>
                    </a:gs>
                  </a:gsLst>
                  <a:lin ang="5400000" scaled="1"/>
                </a:gradFill>
              </a:rPr>
              <a:t>智水清源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0D8F0"/>
                </a:solidFill>
                <a:latin typeface="PingFang SC"/>
              </a:rPr>
              <a:t>Nereus-S1 智能泳池清洁机器人
清洁 · 监测 · 投药，一机全搞定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2377440" cy="1097280"/>
          </a:xfrm>
          <a:prstGeom prst="rect">
            <a:avLst/>
          </a:prstGeom>
          <a:ln w="19050">
            <a:solidFill>
              <a:srgbClr val="0077FF"/>
            </a:solidFill>
          </a:ln>
          <a:gradFill rotWithShape="1">
            <a:gsLst>
              <a:gs pos="0">
                <a:srgbClr val="003A88"/>
              </a:gs>
              <a:gs pos="100000">
                <a:srgbClr val="0057C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237744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PingFang SC"/>
              </a:rPr>
              <a:t>8L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B8E0"/>
                </a:solidFill>
                <a:latin typeface="PingFang SC"/>
              </a:rPr>
              <a:t>垃圾篮容量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4114800"/>
            <a:ext cx="2377440" cy="1097280"/>
          </a:xfrm>
          <a:prstGeom prst="rect">
            <a:avLst/>
          </a:prstGeom>
          <a:ln w="19050">
            <a:solidFill>
              <a:srgbClr val="0077FF"/>
            </a:solidFill>
          </a:ln>
          <a:gradFill rotWithShape="1">
            <a:gsLst>
              <a:gs pos="0">
                <a:srgbClr val="003A88"/>
              </a:gs>
              <a:gs pos="100000">
                <a:srgbClr val="0057C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4114800"/>
            <a:ext cx="237744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42062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PingFang SC"/>
              </a:rPr>
              <a:t>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B8E0"/>
                </a:solidFill>
                <a:latin typeface="PingFang SC"/>
              </a:rPr>
              <a:t>作业时间降低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114800"/>
            <a:ext cx="2377440" cy="1097280"/>
          </a:xfrm>
          <a:prstGeom prst="rect">
            <a:avLst/>
          </a:prstGeom>
          <a:ln w="19050">
            <a:solidFill>
              <a:srgbClr val="0077FF"/>
            </a:solidFill>
          </a:ln>
          <a:gradFill rotWithShape="1">
            <a:gsLst>
              <a:gs pos="0">
                <a:srgbClr val="003A88"/>
              </a:gs>
              <a:gs pos="100000">
                <a:srgbClr val="0057C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114800"/>
            <a:ext cx="237744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42062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PingFang SC"/>
              </a:rPr>
              <a:t>3合1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B8E0"/>
                </a:solidFill>
                <a:latin typeface="PingFang SC"/>
              </a:rPr>
              <a:t>传感器融合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80B0"/>
                </a:solidFill>
                <a:latin typeface="PingFang SC"/>
              </a:rPr>
              <a:t>2026年4月 · 路演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080B0"/>
                </a:solidFill>
                <a:latin typeface="PingFang SC"/>
              </a:rPr>
              <a:t>沭波特智能科技（深圳）有限公司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gradFill="">
        <a:noFill/>
        <a:effectLst/>
        <a:gradFill rotWithShape="1">
          <a:gsLst>
            <a:gs pos="0">
              <a:srgbClr val="003399"/>
            </a:gs>
            <a:gs pos="50000">
              <a:srgbClr val="0057D9"/>
            </a:gs>
            <a:gs pos="75000">
              <a:srgbClr val="003A80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A0D0"/>
                </a:solidFill>
                <a:latin typeface="PingFang SC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latin typeface="PingFang SC"/>
                <a:gradFill rotate="1">
                  <a:gsLst>
                    <a:gs pos="0">
                      <a:srgbClr val="FFFFFF"/>
                    </a:gs>
                    <a:gs pos="100000">
                      <a:srgbClr val="00AAFF"/>
                    </a:gs>
                  </a:gsLst>
                  <a:lin ang="5400000" scaled="1"/>
                </a:gradFill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560320" cy="182880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73152" cy="18288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AFF"/>
                </a:solidFill>
                <a:latin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/>
              </a:rPr>
              <a:t>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90C0"/>
                </a:solidFill>
                <a:latin typeface="PingFang SC"/>
              </a:rPr>
              <a:t>PAIN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920240"/>
            <a:ext cx="2560320" cy="182880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920240"/>
            <a:ext cx="73152" cy="18288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AFF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/>
              </a:rPr>
              <a:t>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90C0"/>
                </a:solidFill>
                <a:latin typeface="PingFang SC"/>
              </a:rPr>
              <a:t>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920240"/>
            <a:ext cx="2560320" cy="182880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920240"/>
            <a:ext cx="73152" cy="18288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AFF"/>
                </a:solidFill>
                <a:latin typeface="PingFang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/>
              </a:rPr>
              <a:t>产品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90C0"/>
                </a:solidFill>
                <a:latin typeface="PingFang SC"/>
              </a:rPr>
              <a:t>PRODUCT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920240"/>
            <a:ext cx="2560320" cy="182880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920240"/>
            <a:ext cx="73152" cy="18288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AFF"/>
                </a:solidFill>
                <a:latin typeface="PingFang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/>
              </a:rPr>
              <a:t>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90C0"/>
                </a:solidFill>
                <a:latin typeface="PingFang SC"/>
              </a:rPr>
              <a:t>MARKET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206240"/>
            <a:ext cx="2560320" cy="182880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206240"/>
            <a:ext cx="73152" cy="18288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AFF"/>
                </a:solidFill>
                <a:latin typeface="PingFang S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377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/>
              </a:rPr>
              <a:t>商业模式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949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90C0"/>
                </a:solidFill>
                <a:latin typeface="PingFang SC"/>
              </a:rPr>
              <a:t>BUSINESS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4206240"/>
            <a:ext cx="2560320" cy="182880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66160" y="4206240"/>
            <a:ext cx="73152" cy="18288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AFF"/>
                </a:solidFill>
                <a:latin typeface="PingFang SC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49377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/>
              </a:rPr>
              <a:t>竞争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53949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90C0"/>
                </a:solidFill>
                <a:latin typeface="PingFang SC"/>
              </a:rPr>
              <a:t>COMPETITION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206240"/>
            <a:ext cx="2560320" cy="182880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206240"/>
            <a:ext cx="73152" cy="18288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AFF"/>
                </a:solidFill>
                <a:latin typeface="PingFang SC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9377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/>
              </a:rPr>
              <a:t>团队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3949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90C0"/>
                </a:solidFill>
                <a:latin typeface="PingFang SC"/>
              </a:rPr>
              <a:t>TEAM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4206240"/>
            <a:ext cx="2560320" cy="182880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4206240"/>
            <a:ext cx="73152" cy="18288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AFF"/>
                </a:solidFill>
                <a:latin typeface="PingFang SC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49377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/>
              </a:rPr>
              <a:t>规划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53949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90C0"/>
                </a:solidFill>
                <a:latin typeface="PingFang SC"/>
              </a:rPr>
              <a:t>MILESTONE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EF6FF"/>
            </a:gs>
            <a:gs pos="50000">
              <a:srgbClr val="FFFFFF"/>
            </a:gs>
            <a:gs pos="100000">
              <a:srgbClr val="EEF6FF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7D9"/>
                </a:solidFill>
                <a:latin typeface="PingFang SC"/>
              </a:rPr>
              <a:t>01 · PAIN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市场痛点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6178"/>
                </a:solidFill>
                <a:latin typeface="PingFang SC"/>
              </a:rPr>
              <a:t>传统泳池清洁依赖人工，效率低、成本高、效果差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566160" cy="3657600"/>
          </a:xfrm>
          <a:prstGeom prst="rect">
            <a:avLst/>
          </a:prstGeom>
          <a:ln w="19050">
            <a:solidFill>
              <a:srgbClr val="D0D8E8"/>
            </a:solidFill>
          </a:ln>
          <a:gradFill rotWithShape="1">
            <a:gsLst>
              <a:gs pos="0">
                <a:srgbClr val="FFFFFF"/>
              </a:gs>
              <a:gs pos="100000">
                <a:srgbClr val="FFD0CE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566160" cy="54864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FF3B30"/>
              </a:gs>
              <a:gs pos="100000">
                <a:srgbClr val="FF3B3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67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2E"/>
                </a:solidFill>
                <a:latin typeface="PingFang SC"/>
              </a:rPr>
              <a:t>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</a:rPr>
              <a:t>人工成本高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178"/>
                </a:solidFill>
                <a:latin typeface="PingFang SC"/>
              </a:rPr>
              <a:t>专业清洁人员月薪 ¥6,000+，频繁清洁费用累积，旺季人手严重不足。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2194560"/>
            <a:ext cx="3566160" cy="3657600"/>
          </a:xfrm>
          <a:prstGeom prst="rect">
            <a:avLst/>
          </a:prstGeom>
          <a:ln w="19050">
            <a:solidFill>
              <a:srgbClr val="D0D8E8"/>
            </a:solidFill>
          </a:ln>
          <a:gradFill rotWithShape="1">
            <a:gsLst>
              <a:gs pos="0">
                <a:srgbClr val="FFFFFF"/>
              </a:gs>
              <a:gs pos="100000">
                <a:srgbClr val="FFE0B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2194560"/>
            <a:ext cx="3566160" cy="54864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FF9500"/>
              </a:gs>
              <a:gs pos="100000">
                <a:srgbClr val="FF950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267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2E"/>
                </a:solidFill>
                <a:latin typeface="PingFang SC"/>
              </a:rPr>
              <a:t>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</a:rPr>
              <a:t>清洁效率低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9260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178"/>
                </a:solidFill>
                <a:latin typeface="PingFang SC"/>
              </a:rPr>
              <a:t>现有设备多为有线操作，覆盖不均匀，角落盲区多，维护周期长。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2194560"/>
            <a:ext cx="3566160" cy="3657600"/>
          </a:xfrm>
          <a:prstGeom prst="rect">
            <a:avLst/>
          </a:prstGeom>
          <a:ln w="19050">
            <a:solidFill>
              <a:srgbClr val="D0D8E8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2194560"/>
            <a:ext cx="3566160" cy="54864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57D9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267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2E"/>
                </a:solidFill>
                <a:latin typeface="PingFang SC"/>
              </a:rPr>
              <a:t>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799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</a:rPr>
              <a:t>水质监测滞后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9260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178"/>
                </a:solidFill>
                <a:latin typeface="PingFang SC"/>
              </a:rPr>
              <a:t>pH/余氯异常靠人工检测，响应慢，夏季高峰易出现水质安全事故。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gradFill="">
        <a:noFill/>
        <a:effectLst/>
        <a:gradFill rotWithShape="1">
          <a:gsLst>
            <a:gs pos="0">
              <a:srgbClr val="003399"/>
            </a:gs>
            <a:gs pos="50000">
              <a:srgbClr val="0057D9"/>
            </a:gs>
            <a:gs pos="75000">
              <a:srgbClr val="003A80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0"/>
            <a:ext cx="2743200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2255"/>
              </a:gs>
              <a:gs pos="100000">
                <a:srgbClr val="003A88"/>
              </a:gs>
            </a:gsLst>
            <a:lin ang="18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A0D0"/>
                </a:solidFill>
                <a:latin typeface="PingFang SC"/>
              </a:rPr>
              <a:t>02 ·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latin typeface="PingFang SC"/>
                <a:gradFill rotate="1">
                  <a:gsLst>
                    <a:gs pos="0">
                      <a:srgbClr val="FFFFFF"/>
                    </a:gs>
                    <a:gs pos="100000">
                      <a:srgbClr val="00AAFF"/>
                    </a:gs>
                  </a:gsLst>
                  <a:lin ang="5400000" scaled="1"/>
                </a:gradFill>
              </a:rPr>
              <a:t>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D8F0"/>
                </a:solidFill>
                <a:latin typeface="PingFang SC"/>
              </a:rPr>
              <a:t>Nereus-S1 一机替代人工，提供全方位智能清洁与实时监测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566160" cy="347472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56616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596128"/>
            <a:ext cx="3566160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2E"/>
                </a:solidFill>
                <a:latin typeface="PingFang SC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全自动化作业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PingFang SC"/>
              </a:rPr>
              <a:t>GPS+惯导+超声波融合导航，一键启动，自动规划全域清洁路径，无需人工干预。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2194560"/>
            <a:ext cx="3566160" cy="347472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2194560"/>
            <a:ext cx="356616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79" y="5596128"/>
            <a:ext cx="3566160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2E"/>
                </a:solidFill>
                <a:latin typeface="PingFang SC"/>
              </a:rPr>
              <a:t>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实时水质监测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5204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PingFang SC"/>
              </a:rPr>
              <a:t>pH、余氯、浊度三合一传感器，24小时云端同步，异常实时告警推送手机。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9" y="2194560"/>
            <a:ext cx="3566160" cy="347472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9" y="2194560"/>
            <a:ext cx="356616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5596128"/>
            <a:ext cx="3566160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2E"/>
                </a:solidFill>
                <a:latin typeface="PingFang SC"/>
              </a:rPr>
              <a:t>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/>
              </a:rPr>
              <a:t>智能精准投药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5204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PingFang SC"/>
              </a:rPr>
              <a:t>装配药剂槽，根据水质数据自动计算投药量，维持pH稳定，减少药剂浪费60%。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EF6FF"/>
            </a:gs>
            <a:gs pos="50000">
              <a:srgbClr val="FFFFFF"/>
            </a:gs>
            <a:gs pos="100000">
              <a:srgbClr val="EEF6FF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7D9"/>
                </a:solidFill>
                <a:latin typeface="PingFang SC"/>
              </a:rPr>
              <a:t>03 ·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产品核心功能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6178"/>
                </a:solidFill>
                <a:latin typeface="PingFang SC"/>
              </a:rPr>
              <a:t>六大核心能力，构建完整泳池管理闭环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ingFang SC"/>
              </a:rPr>
              <a:t>清洁效率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57D9"/>
                </a:solidFill>
                <a:latin typeface="PingFang SC"/>
              </a:rPr>
              <a:t>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10149840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9642348" cy="274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ingFang SC"/>
              </a:rPr>
              <a:t>水质监测覆盖率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337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57D9"/>
                </a:solidFill>
                <a:latin typeface="PingFang SC"/>
              </a:rPr>
              <a:t>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10149840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03320"/>
            <a:ext cx="10149840" cy="274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ingFang SC"/>
              </a:rPr>
              <a:t>投药精准度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389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57D9"/>
                </a:solidFill>
                <a:latin typeface="PingFang SC"/>
              </a:rPr>
              <a:t>87%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10149840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8830360" cy="274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4406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PingFang SC"/>
              </a:rPr>
              <a:t>太阳能自续航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54406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57D9"/>
                </a:solidFill>
                <a:latin typeface="PingFang SC"/>
              </a:rPr>
              <a:t>65%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806440"/>
            <a:ext cx="10149840" cy="2743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6597396" cy="274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EF6FF"/>
            </a:gs>
            <a:gs pos="50000">
              <a:srgbClr val="FFFFFF"/>
            </a:gs>
            <a:gs pos="100000">
              <a:srgbClr val="EEF6FF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7D9"/>
                </a:solidFill>
                <a:latin typeface="PingFang SC"/>
              </a:rPr>
              <a:t>03 ·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产品规格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66160" cy="2103120"/>
          </a:xfrm>
          <a:prstGeom prst="rect">
            <a:avLst/>
          </a:prstGeom>
          <a:ln w="19050">
            <a:solidFill>
              <a:srgbClr val="CCD8FF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66160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8L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178"/>
                </a:solidFill>
                <a:latin typeface="PingFang SC"/>
              </a:rPr>
              <a:t>垃圾篮容量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828800"/>
            <a:ext cx="3566160" cy="2103120"/>
          </a:xfrm>
          <a:prstGeom prst="rect">
            <a:avLst/>
          </a:prstGeom>
          <a:ln w="19050">
            <a:solidFill>
              <a:srgbClr val="CCD8FF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566160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13.5W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246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178"/>
                </a:solidFill>
                <a:latin typeface="PingFang SC"/>
              </a:rPr>
              <a:t>太阳能功率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828800"/>
            <a:ext cx="3566160" cy="2103120"/>
          </a:xfrm>
          <a:prstGeom prst="rect">
            <a:avLst/>
          </a:prstGeom>
          <a:ln w="19050">
            <a:solidFill>
              <a:srgbClr val="CCD8FF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566160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46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178"/>
                </a:solidFill>
                <a:latin typeface="PingFang SC"/>
              </a:rPr>
              <a:t>作业时间降低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3566160" cy="2103120"/>
          </a:xfrm>
          <a:prstGeom prst="rect">
            <a:avLst/>
          </a:prstGeom>
          <a:ln w="19050">
            <a:solidFill>
              <a:srgbClr val="CCD8FF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3566160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0559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3合1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235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178"/>
                </a:solidFill>
                <a:latin typeface="PingFang SC"/>
              </a:rPr>
              <a:t>传感器融合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206240"/>
            <a:ext cx="3566160" cy="2103120"/>
          </a:xfrm>
          <a:prstGeom prst="rect">
            <a:avLst/>
          </a:prstGeom>
          <a:ln w="19050">
            <a:solidFill>
              <a:srgbClr val="CCD8FF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4206240"/>
            <a:ext cx="3566160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4480559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蓝牙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6235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178"/>
                </a:solidFill>
                <a:latin typeface="PingFang SC"/>
              </a:rPr>
              <a:t>APP控制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206240"/>
            <a:ext cx="3566160" cy="2103120"/>
          </a:xfrm>
          <a:prstGeom prst="rect">
            <a:avLst/>
          </a:prstGeom>
          <a:ln w="19050">
            <a:solidFill>
              <a:srgbClr val="CCD8FF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4206240"/>
            <a:ext cx="3566160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480559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IP68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62355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178"/>
                </a:solidFill>
                <a:latin typeface="PingFang SC"/>
              </a:rPr>
              <a:t>防水等级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gradFill="">
        <a:noFill/>
        <a:effectLst/>
        <a:gradFill rotWithShape="1">
          <a:gsLst>
            <a:gs pos="0">
              <a:srgbClr val="003399"/>
            </a:gs>
            <a:gs pos="50000">
              <a:srgbClr val="0057D9"/>
            </a:gs>
            <a:gs pos="75000">
              <a:srgbClr val="003A80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0"/>
            <a:ext cx="2743200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2255"/>
              </a:gs>
              <a:gs pos="100000">
                <a:srgbClr val="003A88"/>
              </a:gs>
            </a:gsLst>
            <a:lin ang="18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A0D0"/>
                </a:solidFill>
                <a:latin typeface="PingFang SC"/>
              </a:rPr>
              <a:t>04 ·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latin typeface="PingFang SC"/>
                <a:gradFill rotate="1">
                  <a:gsLst>
                    <a:gs pos="0">
                      <a:srgbClr val="FFFFFF"/>
                    </a:gs>
                    <a:gs pos="100000">
                      <a:srgbClr val="00AAFF"/>
                    </a:gs>
                  </a:gsLst>
                  <a:lin ang="5400000" scaled="1"/>
                </a:gradFill>
              </a:rPr>
              <a:t>市场规模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D8F0"/>
                </a:solidFill>
                <a:latin typeface="PingFang SC"/>
              </a:rPr>
              <a:t>泳池经济快速增长，智能化升级需求爆发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566160" cy="411480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566160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90C0"/>
                </a:solidFill>
                <a:latin typeface="PingFang SC"/>
              </a:rPr>
              <a:t>中国泳池市场规模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latin typeface="PingFang SC"/>
                <a:gradFill rotate="1">
                  <a:gsLst>
                    <a:gs pos="0">
                      <a:srgbClr val="FFFFFF"/>
                    </a:gs>
                    <a:gs pos="100000">
                      <a:srgbClr val="00AAFF"/>
                    </a:gs>
                  </a:gsLst>
                  <a:lin ang="5400000" scaled="1"/>
                </a:gradFill>
              </a:rPr>
              <a:t>¥380亿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90C0"/>
                </a:solidFill>
                <a:latin typeface="PingFang SC"/>
              </a:rPr>
              <a:t>2025年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97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C759"/>
                </a:solidFill>
                <a:latin typeface="PingFang SC"/>
              </a:rPr>
              <a:t>+18% 年增速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2103120"/>
            <a:ext cx="3566160" cy="411480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2103120"/>
            <a:ext cx="3566160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90C0"/>
                </a:solidFill>
                <a:latin typeface="PingFang SC"/>
              </a:rPr>
              <a:t>智能清洁设备渗透率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7432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latin typeface="PingFang SC"/>
                <a:gradFill rotate="1">
                  <a:gsLst>
                    <a:gs pos="0">
                      <a:srgbClr val="FFFFFF"/>
                    </a:gs>
                    <a:gs pos="100000">
                      <a:srgbClr val="00AAFF"/>
                    </a:gs>
                  </a:gsLst>
                  <a:lin ang="5400000" scaled="1"/>
                </a:gradFill>
              </a:rPr>
              <a:t>12%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90C0"/>
                </a:solidFill>
                <a:latin typeface="PingFang SC"/>
              </a:rPr>
              <a:t>当前 → 2030年 45%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297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C759"/>
                </a:solidFill>
                <a:latin typeface="PingFang SC"/>
              </a:rPr>
              <a:t>+24% CAGR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9" y="2103120"/>
            <a:ext cx="3566160" cy="411480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9" y="2103120"/>
            <a:ext cx="3566160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90C0"/>
                </a:solidFill>
                <a:latin typeface="PingFang SC"/>
              </a:rPr>
              <a:t>目标用户规模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7432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latin typeface="PingFang SC"/>
                <a:gradFill rotate="1">
                  <a:gsLst>
                    <a:gs pos="0">
                      <a:srgbClr val="FFFFFF"/>
                    </a:gs>
                    <a:gs pos="100000">
                      <a:srgbClr val="00AAFF"/>
                    </a:gs>
                  </a:gsLst>
                  <a:lin ang="5400000" scaled="1"/>
                </a:gradFill>
              </a:rPr>
              <a:t>1,200万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90C0"/>
                </a:solidFill>
                <a:latin typeface="PingFang SC"/>
              </a:rPr>
              <a:t>B端+C端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4297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AFF"/>
                </a:solidFill>
                <a:latin typeface="PingFang SC"/>
              </a:rPr>
              <a:t>民宿/酒店/私家泳池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EF6FF"/>
            </a:gs>
            <a:gs pos="50000">
              <a:srgbClr val="FFFFFF"/>
            </a:gs>
            <a:gs pos="100000">
              <a:srgbClr val="EEF6FF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7D9"/>
                </a:solidFill>
                <a:latin typeface="PingFang SC"/>
              </a:rPr>
              <a:t>05 ·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商业模式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6178"/>
                </a:solidFill>
                <a:latin typeface="PingFang SC"/>
              </a:rPr>
              <a:t>硬件 + 订阅服务 + 耗材，复合收入结构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3566160" cy="4114800"/>
          </a:xfrm>
          <a:prstGeom prst="rect">
            <a:avLst/>
          </a:prstGeom>
          <a:ln w="19050">
            <a:solidFill>
              <a:srgbClr val="D0D8E8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566160" cy="64008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3399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</a:rPr>
              <a:t>硬件销售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¥8,800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178"/>
                </a:solidFill>
                <a:latin typeface="PingFang SC"/>
              </a:rPr>
              <a:t>Nereus-S1 机器人本体
一次性销售
线上+线下渠道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2103120"/>
            <a:ext cx="3566160" cy="4114800"/>
          </a:xfrm>
          <a:prstGeom prst="rect">
            <a:avLst/>
          </a:prstGeom>
          <a:ln w="19050">
            <a:solidFill>
              <a:srgbClr val="D0D8E8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2103120"/>
            <a:ext cx="3566160" cy="64008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57D9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</a:rPr>
              <a:t>订阅服务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834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¥499/年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6576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178"/>
                </a:solidFill>
                <a:latin typeface="PingFang SC"/>
              </a:rPr>
              <a:t>云端管家 + AI水质周报
高复购、高毛利
现金流稳定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2103120"/>
            <a:ext cx="3566160" cy="4114800"/>
          </a:xfrm>
          <a:prstGeom prst="rect">
            <a:avLst/>
          </a:prstGeom>
          <a:ln w="19050">
            <a:solidFill>
              <a:srgbClr val="D0D8E8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2103120"/>
            <a:ext cx="3566160" cy="64008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SC"/>
              </a:rPr>
              <a:t>上门服务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834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¥1,899/季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6576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178"/>
                </a:solidFill>
                <a:latin typeface="PingFang SC"/>
              </a:rPr>
              <a:t>深度清洁 + 药剂补给
面向B端
高客单价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gradFill="">
        <a:noFill/>
        <a:effectLst/>
        <a:gradFill rotWithShape="1">
          <a:gsLst>
            <a:gs pos="0">
              <a:srgbClr val="003399"/>
            </a:gs>
            <a:gs pos="50000">
              <a:srgbClr val="0057D9"/>
            </a:gs>
            <a:gs pos="75000">
              <a:srgbClr val="003A80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A0D0"/>
                </a:solidFill>
                <a:latin typeface="PingFang SC"/>
              </a:rPr>
              <a:t>06 ·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latin typeface="PingFang SC"/>
                <a:gradFill rotate="1">
                  <a:gsLst>
                    <a:gs pos="0">
                      <a:srgbClr val="FFFFFF"/>
                    </a:gs>
                    <a:gs pos="100000">
                      <a:srgbClr val="00AAFF"/>
                    </a:gs>
                  </a:gsLst>
                  <a:lin ang="5400000" scaled="1"/>
                </a:gradFill>
              </a:rPr>
              <a:t>竞争优势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D8F0"/>
                </a:solidFill>
                <a:latin typeface="PingFang SC"/>
              </a:rPr>
              <a:t>三大壁垒，构建难以复制的护城河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3566160" cy="393192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56616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071616"/>
            <a:ext cx="356616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PingFang SC"/>
              </a:rP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ingFang SC"/>
              </a:rPr>
              <a:t>技术壁垒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0"/>
                </a:solidFill>
                <a:latin typeface="PingFang SC"/>
              </a:rPr>
              <a:t>多传感器融合算法、边缘计算、自适应路径规划，3项核心专利申请中。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2194560"/>
            <a:ext cx="3566160" cy="393192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2194560"/>
            <a:ext cx="356616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6071616"/>
            <a:ext cx="356616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PingFang SC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ingFang SC"/>
              </a:rPr>
              <a:t>数据壁垒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5661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0"/>
                </a:solidFill>
                <a:latin typeface="PingFang SC"/>
              </a:rPr>
              <a:t>水质数据库持续积累，AI模型随用户规模不断优化，后来者难以追赶。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19" y="2194560"/>
            <a:ext cx="3566160" cy="393192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19" y="2194560"/>
            <a:ext cx="356616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19" y="6071616"/>
            <a:ext cx="356616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A1A2E"/>
                </a:solidFill>
                <a:latin typeface="PingFang SC"/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ingFang SC"/>
              </a:rPr>
              <a:t>生态壁垒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5661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8E0"/>
                </a:solidFill>
                <a:latin typeface="PingFang SC"/>
              </a:rPr>
              <a:t>硬件+APP+云平台三位一体，订阅服务锁定用户，高转换成本降低流失率。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EF6FF"/>
            </a:gs>
            <a:gs pos="50000">
              <a:srgbClr val="FFFFFF"/>
            </a:gs>
            <a:gs pos="100000">
              <a:srgbClr val="EEF6FF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57D9"/>
                </a:solidFill>
                <a:latin typeface="PingFang SC"/>
              </a:rPr>
              <a:t>07 ·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latin typeface="PingFang SC"/>
                <a:gradFill rotate="1">
                  <a:gsLst>
                    <a:gs pos="0">
                      <a:srgbClr val="003399"/>
                    </a:gs>
                    <a:gs pos="100000">
                      <a:srgbClr val="0057D9"/>
                    </a:gs>
                  </a:gsLst>
                  <a:lin ang="5400000" scaled="1"/>
                </a:gradFill>
              </a:rPr>
              <a:t>核心团队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6178"/>
                </a:solidFill>
                <a:latin typeface="PingFang SC"/>
              </a:rPr>
              <a:t>跨学科背景，产学研深度融合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651760" cy="3931920"/>
          </a:xfrm>
          <a:prstGeom prst="rect">
            <a:avLst/>
          </a:prstGeom>
          <a:ln w="19050">
            <a:solidFill>
              <a:srgbClr val="CCD8FF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19" y="2468879"/>
            <a:ext cx="914400" cy="9144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3399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19" y="25146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PingFang SC"/>
              </a:rPr>
              <a:t>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PingFang SC"/>
              </a:rPr>
              <a:t>张XX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57D9"/>
                </a:solidFill>
                <a:latin typeface="PingFang SC"/>
              </a:rPr>
              <a:t>创始人 &amp; 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805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178"/>
                </a:solidFill>
                <a:latin typeface="PingFang SC"/>
              </a:rPr>
              <a:t>XX大学 MBA
10年智能硬件经验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194560"/>
            <a:ext cx="2651760" cy="3931920"/>
          </a:xfrm>
          <a:prstGeom prst="rect">
            <a:avLst/>
          </a:prstGeom>
          <a:ln w="19050">
            <a:solidFill>
              <a:srgbClr val="CCD8FF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2468879"/>
            <a:ext cx="914400" cy="9144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57D9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25146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PingFang SC"/>
              </a:rPr>
              <a:t>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566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PingFang SC"/>
              </a:rPr>
              <a:t>李XX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57D9"/>
                </a:solidFill>
                <a:latin typeface="PingFang SC"/>
              </a:rPr>
              <a:t>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4805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178"/>
                </a:solidFill>
                <a:latin typeface="PingFang SC"/>
              </a:rPr>
              <a:t>XX大学 博士
机器人算法专家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94560"/>
            <a:ext cx="2651760" cy="3931920"/>
          </a:xfrm>
          <a:prstGeom prst="rect">
            <a:avLst/>
          </a:prstGeom>
          <a:ln w="19050">
            <a:solidFill>
              <a:srgbClr val="CCD8FF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86600" y="2468879"/>
            <a:ext cx="914400" cy="9144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77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5146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PingFang SC"/>
              </a:rPr>
              <a:t>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566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PingFang SC"/>
              </a:rPr>
              <a:t>王XX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57D9"/>
                </a:solidFill>
                <a:latin typeface="PingFang SC"/>
              </a:rPr>
              <a:t>COO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4805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178"/>
                </a:solidFill>
                <a:latin typeface="PingFang SC"/>
              </a:rPr>
              <a:t>前XX科技运营总监
精益生产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2194560"/>
            <a:ext cx="2651760" cy="3931920"/>
          </a:xfrm>
          <a:prstGeom prst="rect">
            <a:avLst/>
          </a:prstGeom>
          <a:ln w="19050">
            <a:solidFill>
              <a:srgbClr val="CCD8FF"/>
            </a:solidFill>
          </a:ln>
          <a:gradFill rotWithShape="1">
            <a:gsLst>
              <a:gs pos="0">
                <a:srgbClr val="FFFFFF"/>
              </a:gs>
              <a:gs pos="100000">
                <a:srgbClr val="EEF6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2468879"/>
            <a:ext cx="914400" cy="9144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57CC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5146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PingFang SC"/>
              </a:rPr>
              <a:t>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66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PingFang SC"/>
              </a:rPr>
              <a:t>陈XX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57D9"/>
                </a:solidFill>
                <a:latin typeface="PingFang SC"/>
              </a:rPr>
              <a:t>市场总监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4805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178"/>
                </a:solidFill>
                <a:latin typeface="PingFang SC"/>
              </a:rPr>
              <a:t>泳池行业8年
渠道经验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gradFill="">
        <a:noFill/>
        <a:effectLst/>
        <a:gradFill rotWithShape="1">
          <a:gsLst>
            <a:gs pos="0">
              <a:srgbClr val="003399"/>
            </a:gs>
            <a:gs pos="50000">
              <a:srgbClr val="0057D9"/>
            </a:gs>
            <a:gs pos="75000">
              <a:srgbClr val="003A80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3200400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2255"/>
              </a:gs>
              <a:gs pos="100000">
                <a:srgbClr val="003A88"/>
              </a:gs>
            </a:gsLst>
            <a:lin ang="18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0A0D0"/>
                </a:solidFill>
                <a:latin typeface="PingFang SC"/>
              </a:rPr>
              <a:t>08 · MILESTONE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latin typeface="PingFang SC"/>
                <a:gradFill rotate="1">
                  <a:gsLst>
                    <a:gs pos="0">
                      <a:srgbClr val="FFFFFF"/>
                    </a:gs>
                    <a:gs pos="100000">
                      <a:srgbClr val="00AAFF"/>
                    </a:gs>
                  </a:gsLst>
                  <a:lin ang="5400000" scaled="1"/>
                </a:gradFill>
              </a:rPr>
              <a:t>发展规划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D8F0"/>
                </a:solidFill>
                <a:latin typeface="PingFang SC"/>
              </a:rPr>
              <a:t>清晰路径，稳扎稳打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94560"/>
            <a:ext cx="45720" cy="420624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7552" y="2194560"/>
            <a:ext cx="274320" cy="274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176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AFF"/>
                </a:solidFill>
                <a:latin typeface="PingFang SC"/>
              </a:rPr>
              <a:t>2026 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871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ingFang SC"/>
              </a:rPr>
              <a:t>完成产品量产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80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PingFang SC"/>
              </a:rPr>
              <a:t>小批量生产500台，建立供应链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" y="3246120"/>
            <a:ext cx="274320" cy="274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2278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AFF"/>
                </a:solidFill>
                <a:latin typeface="PingFang SC"/>
              </a:rPr>
              <a:t>2026 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538727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ingFang SC"/>
              </a:rPr>
              <a:t>种子用户验证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31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PingFang SC"/>
              </a:rPr>
              <a:t>B端民宿30家+C端50台，月流水破10万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" y="4297679"/>
            <a:ext cx="274320" cy="274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279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AFF"/>
                </a:solidFill>
                <a:latin typeface="PingFang SC"/>
              </a:rPr>
              <a:t>2027 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5902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ingFang SC"/>
              </a:rPr>
              <a:t>A轮融资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8347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PingFang SC"/>
              </a:rPr>
              <a:t>目标融资500万，用于扩产+市场推广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" y="5349240"/>
            <a:ext cx="274320" cy="27432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5330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AFF"/>
                </a:solidFill>
                <a:latin typeface="PingFang SC"/>
              </a:rPr>
              <a:t>2028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64184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ingFang SC"/>
              </a:rPr>
              <a:t>市场占有率目标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035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E0"/>
                </a:solidFill>
                <a:latin typeface="PingFang SC"/>
              </a:rPr>
              <a:t>B端TOP3，年营收突破3000万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194560"/>
            <a:ext cx="4846320" cy="192024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2194560"/>
            <a:ext cx="484632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2331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90C0"/>
                </a:solidFill>
                <a:latin typeface="PingFang SC"/>
              </a:rPr>
              <a:t>累计融资金额目标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69748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latin typeface="PingFang SC"/>
                <a:gradFill rotate="1">
                  <a:gsLst>
                    <a:gs pos="0">
                      <a:srgbClr val="FFFFFF"/>
                    </a:gs>
                    <a:gs pos="100000">
                      <a:srgbClr val="00AAFF"/>
                    </a:gs>
                  </a:gsLst>
                  <a:lin ang="5400000" scaled="1"/>
                </a:gradFill>
              </a:rPr>
              <a:t>¥800万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611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90C0"/>
                </a:solidFill>
                <a:latin typeface="PingFang SC"/>
              </a:rPr>
              <a:t>种子轮 + A轮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4389120"/>
            <a:ext cx="4846320" cy="192024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0" y="4389120"/>
            <a:ext cx="4846320" cy="54864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77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45262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90C0"/>
                </a:solidFill>
                <a:latin typeface="PingFang SC"/>
              </a:rPr>
              <a:t>3年后估值目标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9204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latin typeface="PingFang SC"/>
                <a:gradFill rotate="1">
                  <a:gsLst>
                    <a:gs pos="0">
                      <a:srgbClr val="FFFFFF"/>
                    </a:gs>
                    <a:gs pos="100000">
                      <a:srgbClr val="00AAFF"/>
                    </a:gs>
                  </a:gsLst>
                  <a:lin ang="5400000" scaled="1"/>
                </a:gradFill>
              </a:rPr>
              <a:t>¥1亿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8064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90C0"/>
                </a:solidFill>
                <a:latin typeface="PingFang SC"/>
              </a:rPr>
              <a:t>B轮前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 gradFill="">
        <a:noFill/>
        <a:effectLst/>
        <a:gradFill rotWithShape="1">
          <a:gsLst>
            <a:gs pos="0">
              <a:srgbClr val="003399"/>
            </a:gs>
            <a:gs pos="50000">
              <a:srgbClr val="0057D9"/>
            </a:gs>
            <a:gs pos="75000">
              <a:srgbClr val="003A80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AAFF"/>
              </a:gs>
              <a:gs pos="100000">
                <a:srgbClr val="00AA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3657600"/>
            <a:ext cx="5486400" cy="4572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2255"/>
              </a:gs>
              <a:gs pos="100000">
                <a:srgbClr val="003A88"/>
              </a:gs>
            </a:gsLst>
            <a:lin ang="315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-1828800"/>
            <a:ext cx="5486400" cy="4572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057CC"/>
              </a:gs>
              <a:gs pos="100000">
                <a:srgbClr val="0077FF"/>
              </a:gs>
            </a:gsLst>
            <a:lin ang="18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A0D0"/>
                </a:solidFill>
                <a:latin typeface="PingFang SC"/>
              </a:rP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latin typeface="PingFang SC"/>
                <a:gradFill rotate="1">
                  <a:gsLst>
                    <a:gs pos="0">
                      <a:srgbClr val="FFFFFF"/>
                    </a:gs>
                    <a:gs pos="100000">
                      <a:srgbClr val="00AAFF"/>
                    </a:gs>
                  </a:gsLst>
                  <a:lin ang="5400000" scaled="1"/>
                </a:gradFill>
              </a:rP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0D8F0"/>
                </a:solidFill>
                <a:latin typeface="PingFang SC"/>
              </a:rPr>
              <a:t>期待与您深入交流，共同推动泳池智能化变革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3566160" cy="54864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735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PingFang SC"/>
              </a:rPr>
              <a:t>📧  contact@shuboat.com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3200400"/>
            <a:ext cx="3566160" cy="54864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32735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PingFang SC"/>
              </a:rPr>
              <a:t>📱  138-0000-0000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3200400"/>
            <a:ext cx="3566160" cy="548640"/>
          </a:xfrm>
          <a:prstGeom prst="rect">
            <a:avLst/>
          </a:prstGeom>
          <a:ln w="19050">
            <a:solidFill>
              <a:srgbClr val="1060A0"/>
            </a:solidFill>
          </a:ln>
          <a:gradFill rotWithShape="1">
            <a:gsLst>
              <a:gs pos="0">
                <a:srgbClr val="012266"/>
              </a:gs>
              <a:gs pos="100000">
                <a:srgbClr val="023A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32735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PingFang SC"/>
              </a:rPr>
              <a:t>🌐  www.shuboat.com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90C0"/>
                </a:solidFill>
                <a:latin typeface="PingFang SC"/>
              </a:rPr>
              <a:t>沭波特智能科技（深圳）有限公司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