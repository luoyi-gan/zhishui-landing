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-914400"/>
            <a:ext cx="4572000" cy="45720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914400" y="5029200"/>
            <a:ext cx="3657600" cy="3657600"/>
          </a:xfrm>
          <a:prstGeom prst="rect">
            <a:avLst/>
          </a:prstGeom>
          <a:solidFill>
            <a:srgbClr val="004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B8E0"/>
                </a:solidFill>
                <a:latin typeface="PingFang SC"/>
              </a:rPr>
              <a:t>第十六届三创赛 · 参赛项目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PingFang SC"/>
              </a:rPr>
              <a:t>智水清源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0D8F0"/>
                </a:solidFill>
                <a:latin typeface="PingFang SC"/>
              </a:rPr>
              <a:t>Nereus-S1 智能泳池清洁机器人
清洁 · 监测 · 投药，一机全搞定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2377440" cy="1097280"/>
          </a:xfrm>
          <a:prstGeom prst="rect">
            <a:avLst/>
          </a:prstGeom>
          <a:solidFill>
            <a:srgbClr val="004088"/>
          </a:solidFill>
          <a:ln w="12700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605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PingFang SC"/>
              </a:rPr>
              <a:t>8L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548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0B8E0"/>
                </a:solidFill>
                <a:latin typeface="PingFang SC"/>
              </a:rPr>
              <a:t>垃圾篮容量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4114800"/>
            <a:ext cx="2377440" cy="1097280"/>
          </a:xfrm>
          <a:prstGeom prst="rect">
            <a:avLst/>
          </a:prstGeom>
          <a:solidFill>
            <a:srgbClr val="004088"/>
          </a:solidFill>
          <a:ln w="12700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1605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PingFang SC"/>
              </a:rPr>
              <a:t>35%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7548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0B8E0"/>
                </a:solidFill>
                <a:latin typeface="PingFang SC"/>
              </a:rPr>
              <a:t>作业时间降低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114800"/>
            <a:ext cx="2377440" cy="1097280"/>
          </a:xfrm>
          <a:prstGeom prst="rect">
            <a:avLst/>
          </a:prstGeom>
          <a:solidFill>
            <a:srgbClr val="004088"/>
          </a:solidFill>
          <a:ln w="12700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1605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PingFang SC"/>
              </a:rPr>
              <a:t>3合1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7548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0B8E0"/>
                </a:solidFill>
                <a:latin typeface="PingFang SC"/>
              </a:rPr>
              <a:t>传感器融合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126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80B0"/>
                </a:solidFill>
                <a:latin typeface="PingFang SC"/>
              </a:rPr>
              <a:t>2026年4月 · 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126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080B0"/>
                </a:solidFill>
                <a:latin typeface="PingFang SC"/>
              </a:rPr>
              <a:t>沭波特智能科技（深圳）有限公司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0A0D0"/>
                </a:solidFill>
                <a:latin typeface="PingFang SC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ingFang SC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2560320" cy="1828800"/>
          </a:xfrm>
          <a:prstGeom prst="rect">
            <a:avLst/>
          </a:prstGeom>
          <a:solidFill>
            <a:srgbClr val="012555"/>
          </a:solidFill>
          <a:ln w="12700">
            <a:solidFill>
              <a:srgbClr val="104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AAFF"/>
                </a:solidFill>
                <a:latin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SC"/>
              </a:rPr>
              <a:t>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90C0"/>
                </a:solidFill>
                <a:latin typeface="PingFang SC"/>
              </a:rPr>
              <a:t>PAIN POINT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1920240"/>
            <a:ext cx="2560320" cy="1828800"/>
          </a:xfrm>
          <a:prstGeom prst="rect">
            <a:avLst/>
          </a:prstGeom>
          <a:solidFill>
            <a:srgbClr val="012555"/>
          </a:solidFill>
          <a:ln w="12700">
            <a:solidFill>
              <a:srgbClr val="104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AAFF"/>
                </a:solidFill>
                <a:latin typeface="PingFang S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SC"/>
              </a:rPr>
              <a:t>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90C0"/>
                </a:solidFill>
                <a:latin typeface="PingFang SC"/>
              </a:rPr>
              <a:t>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20240"/>
            <a:ext cx="2560320" cy="1828800"/>
          </a:xfrm>
          <a:prstGeom prst="rect">
            <a:avLst/>
          </a:prstGeom>
          <a:solidFill>
            <a:srgbClr val="012555"/>
          </a:solidFill>
          <a:ln w="12700">
            <a:solidFill>
              <a:srgbClr val="104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AAFF"/>
                </a:solidFill>
                <a:latin typeface="PingFang S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SC"/>
              </a:rPr>
              <a:t>产品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90C0"/>
                </a:solidFill>
                <a:latin typeface="PingFang SC"/>
              </a:rPr>
              <a:t>PRODUCT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1920240"/>
            <a:ext cx="2560320" cy="1828800"/>
          </a:xfrm>
          <a:prstGeom prst="rect">
            <a:avLst/>
          </a:prstGeom>
          <a:solidFill>
            <a:srgbClr val="012555"/>
          </a:solidFill>
          <a:ln w="12700">
            <a:solidFill>
              <a:srgbClr val="104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AAFF"/>
                </a:solidFill>
                <a:latin typeface="PingFang S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SC"/>
              </a:rPr>
              <a:t>市场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90C0"/>
                </a:solidFill>
                <a:latin typeface="PingFang SC"/>
              </a:rPr>
              <a:t>MARKET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206240"/>
            <a:ext cx="2560320" cy="1828800"/>
          </a:xfrm>
          <a:prstGeom prst="rect">
            <a:avLst/>
          </a:prstGeom>
          <a:solidFill>
            <a:srgbClr val="012555"/>
          </a:solidFill>
          <a:ln w="12700">
            <a:solidFill>
              <a:srgbClr val="104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AAFF"/>
                </a:solidFill>
                <a:latin typeface="PingFang SC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377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SC"/>
              </a:rPr>
              <a:t>商业模式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949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90C0"/>
                </a:solidFill>
                <a:latin typeface="PingFang SC"/>
              </a:rPr>
              <a:t>BUSINESS MODEL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4206240"/>
            <a:ext cx="2560320" cy="1828800"/>
          </a:xfrm>
          <a:prstGeom prst="rect">
            <a:avLst/>
          </a:prstGeom>
          <a:solidFill>
            <a:srgbClr val="012555"/>
          </a:solidFill>
          <a:ln w="12700">
            <a:solidFill>
              <a:srgbClr val="104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AAFF"/>
                </a:solidFill>
                <a:latin typeface="PingFang SC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49377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SC"/>
              </a:rPr>
              <a:t>竞争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53949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90C0"/>
                </a:solidFill>
                <a:latin typeface="PingFang SC"/>
              </a:rPr>
              <a:t>COMPETITION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206240"/>
            <a:ext cx="2560320" cy="1828800"/>
          </a:xfrm>
          <a:prstGeom prst="rect">
            <a:avLst/>
          </a:prstGeom>
          <a:solidFill>
            <a:srgbClr val="012555"/>
          </a:solidFill>
          <a:ln w="12700">
            <a:solidFill>
              <a:srgbClr val="104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AAFF"/>
                </a:solidFill>
                <a:latin typeface="PingFang SC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9377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SC"/>
              </a:rPr>
              <a:t>团队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53949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90C0"/>
                </a:solidFill>
                <a:latin typeface="PingFang SC"/>
              </a:rPr>
              <a:t>TEAM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4206240"/>
            <a:ext cx="2560320" cy="1828800"/>
          </a:xfrm>
          <a:prstGeom prst="rect">
            <a:avLst/>
          </a:prstGeom>
          <a:solidFill>
            <a:srgbClr val="012555"/>
          </a:solidFill>
          <a:ln w="12700">
            <a:solidFill>
              <a:srgbClr val="104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AAFF"/>
                </a:solidFill>
                <a:latin typeface="PingFang SC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49377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SC"/>
              </a:rPr>
              <a:t>规划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53949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090C0"/>
                </a:solidFill>
                <a:latin typeface="PingFang SC"/>
              </a:rPr>
              <a:t>MILESTONE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7D9"/>
                </a:solidFill>
                <a:latin typeface="PingFang SC"/>
              </a:rPr>
              <a:t>01 · PAIN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2E"/>
                </a:solidFill>
                <a:latin typeface="PingFang SC"/>
              </a:rPr>
              <a:t>市场痛点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6178"/>
                </a:solidFill>
                <a:latin typeface="PingFang SC"/>
              </a:rPr>
              <a:t>传统泳池清洁依赖人工，效率低、成本高、效果差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54864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PingFang SC"/>
              </a:rPr>
              <a:t>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PingFang SC"/>
              </a:rPr>
              <a:t>人工成本高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178"/>
                </a:solidFill>
                <a:latin typeface="PingFang SC"/>
              </a:rPr>
              <a:t>专业清洁人员月薪 ¥6,000+，频繁清洁费用累积，旺季人手严重不足。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194560"/>
            <a:ext cx="54864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PingFang SC"/>
              </a:rPr>
              <a:t>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PingFang SC"/>
              </a:rPr>
              <a:t>清洁效率低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3246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178"/>
                </a:solidFill>
                <a:latin typeface="PingFang SC"/>
              </a:rPr>
              <a:t>现有设备多为有线操作，覆盖不均匀，角落盲区多，维护周期长。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9" y="2194560"/>
            <a:ext cx="54864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21945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PingFang SC"/>
              </a:rPr>
              <a:t>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PingFang SC"/>
              </a:rPr>
              <a:t>水质监测滞后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2461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178"/>
                </a:solidFill>
                <a:latin typeface="PingFang SC"/>
              </a:rPr>
              <a:t>pH/余氯异常靠人工检测，响应慢，夏季高峰易出现水质安全事故。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0A0D0"/>
                </a:solidFill>
                <a:latin typeface="PingFang SC"/>
              </a:rPr>
              <a:t>02 ·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PingFang SC"/>
              </a:rPr>
              <a:t>解决方案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0D8F0"/>
                </a:solidFill>
                <a:latin typeface="PingFang SC"/>
              </a:rPr>
              <a:t>Nereus-S1 一机替代人工，提供全方位智能清洁与实时监测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3474720" cy="3474720"/>
          </a:xfrm>
          <a:prstGeom prst="rect">
            <a:avLst/>
          </a:prstGeom>
          <a:solidFill>
            <a:srgbClr val="012050"/>
          </a:solidFill>
          <a:ln w="12700">
            <a:solidFill>
              <a:srgbClr val="1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A1A2E"/>
                </a:solidFill>
                <a:latin typeface="PingFang SC"/>
              </a:rP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/>
              </a:rPr>
              <a:t>全自动化作业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118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  <a:latin typeface="PingFang SC"/>
              </a:rPr>
              <a:t>GPS+惯导+超声波融合导航，一键启动，自动规划全域清洁路径，无需人工干预。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2194560"/>
            <a:ext cx="3474720" cy="3474720"/>
          </a:xfrm>
          <a:prstGeom prst="rect">
            <a:avLst/>
          </a:prstGeom>
          <a:solidFill>
            <a:srgbClr val="012050"/>
          </a:solidFill>
          <a:ln w="12700">
            <a:solidFill>
              <a:srgbClr val="1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3774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A1A2E"/>
                </a:solidFill>
                <a:latin typeface="PingFang SC"/>
              </a:rPr>
              <a:t>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/>
              </a:rPr>
              <a:t>实时水质监测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6118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  <a:latin typeface="PingFang SC"/>
              </a:rPr>
              <a:t>pH、余氯、浊度三合一传感器，24小时云端同步，异常实时告警推送手机。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2194560"/>
            <a:ext cx="3474720" cy="3474720"/>
          </a:xfrm>
          <a:prstGeom prst="rect">
            <a:avLst/>
          </a:prstGeom>
          <a:solidFill>
            <a:srgbClr val="012050"/>
          </a:solidFill>
          <a:ln w="12700">
            <a:solidFill>
              <a:srgbClr val="1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23774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A1A2E"/>
                </a:solidFill>
                <a:latin typeface="PingFang SC"/>
              </a:rPr>
              <a:t>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/>
              </a:rPr>
              <a:t>智能精准投药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6118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  <a:latin typeface="PingFang SC"/>
              </a:rPr>
              <a:t>装配药剂槽，根据水质数据自动计算投药量，维持pH稳定，减少药剂浪费60%。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7D9"/>
                </a:solidFill>
                <a:latin typeface="PingFang SC"/>
              </a:rPr>
              <a:t>03 ·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2E"/>
                </a:solidFill>
                <a:latin typeface="PingFang SC"/>
              </a:rPr>
              <a:t>产品核心功能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6178"/>
                </a:solidFill>
                <a:latin typeface="PingFang SC"/>
              </a:rPr>
              <a:t>六大核心能力，构建完整泳池管理闭环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PingFang SC"/>
              </a:rPr>
              <a:t>清洁效率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286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57D9"/>
                </a:solidFill>
                <a:latin typeface="PingFang SC"/>
              </a:rPr>
              <a:t>95%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51760"/>
            <a:ext cx="9966960" cy="2286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651760"/>
            <a:ext cx="9468612" cy="228600"/>
          </a:xfrm>
          <a:prstGeom prst="rect">
            <a:avLst/>
          </a:prstGeom>
          <a:solidFill>
            <a:srgbClr val="005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PingFang SC"/>
              </a:rPr>
              <a:t>水质监测覆盖率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57D9"/>
                </a:solidFill>
                <a:latin typeface="PingFang SC"/>
              </a:rPr>
              <a:t>100%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9966960" cy="2286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657600"/>
            <a:ext cx="9966960" cy="228600"/>
          </a:xfrm>
          <a:prstGeom prst="rect">
            <a:avLst/>
          </a:prstGeom>
          <a:solidFill>
            <a:srgbClr val="005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PingFang SC"/>
              </a:rPr>
              <a:t>投药精准度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297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57D9"/>
                </a:solidFill>
                <a:latin typeface="PingFang SC"/>
              </a:rPr>
              <a:t>87%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663440"/>
            <a:ext cx="9966960" cy="2286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663440"/>
            <a:ext cx="8671255" cy="228600"/>
          </a:xfrm>
          <a:prstGeom prst="rect">
            <a:avLst/>
          </a:prstGeom>
          <a:solidFill>
            <a:srgbClr val="005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PingFang SC"/>
              </a:rPr>
              <a:t>太阳能自续航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303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57D9"/>
                </a:solidFill>
                <a:latin typeface="PingFang SC"/>
              </a:rPr>
              <a:t>65%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69280"/>
            <a:ext cx="9966960" cy="2286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669280"/>
            <a:ext cx="6478524" cy="228600"/>
          </a:xfrm>
          <a:prstGeom prst="rect">
            <a:avLst/>
          </a:prstGeom>
          <a:solidFill>
            <a:srgbClr val="005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6126480"/>
            <a:ext cx="11064240" cy="54864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7D9"/>
                </a:solidFill>
                <a:latin typeface="PingFang SC"/>
              </a:rPr>
              <a:t>03 ·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2E"/>
                </a:solidFill>
                <a:latin typeface="PingFang SC"/>
              </a:rPr>
              <a:t>产品规格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474720" cy="2011680"/>
          </a:xfrm>
          <a:prstGeom prst="rect">
            <a:avLst/>
          </a:prstGeom>
          <a:solidFill>
            <a:srgbClr val="EEF6FF"/>
          </a:solidFill>
          <a:ln w="12700"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57D9"/>
                </a:solidFill>
                <a:latin typeface="PingFang SC"/>
              </a:rPr>
              <a:t>8L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178"/>
                </a:solidFill>
                <a:latin typeface="PingFang SC"/>
              </a:rPr>
              <a:t>垃圾篮容量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828800"/>
            <a:ext cx="3474720" cy="2011680"/>
          </a:xfrm>
          <a:prstGeom prst="rect">
            <a:avLst/>
          </a:prstGeom>
          <a:solidFill>
            <a:srgbClr val="EEF6FF"/>
          </a:solidFill>
          <a:ln w="12700"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19" y="21031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57D9"/>
                </a:solidFill>
                <a:latin typeface="PingFang SC"/>
              </a:rPr>
              <a:t>13.5W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19" y="3200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178"/>
                </a:solidFill>
                <a:latin typeface="PingFang SC"/>
              </a:rPr>
              <a:t>太阳能功率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1828800"/>
            <a:ext cx="3474720" cy="2011680"/>
          </a:xfrm>
          <a:prstGeom prst="rect">
            <a:avLst/>
          </a:prstGeom>
          <a:solidFill>
            <a:srgbClr val="EEF6FF"/>
          </a:solidFill>
          <a:ln w="12700"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9" y="21031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57D9"/>
                </a:solidFill>
                <a:latin typeface="PingFang SC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3200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178"/>
                </a:solidFill>
                <a:latin typeface="PingFang SC"/>
              </a:rPr>
              <a:t>作业时间降低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06240"/>
            <a:ext cx="3474720" cy="2011680"/>
          </a:xfrm>
          <a:prstGeom prst="rect">
            <a:avLst/>
          </a:prstGeom>
          <a:solidFill>
            <a:srgbClr val="EEF6FF"/>
          </a:solidFill>
          <a:ln w="12700"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5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57D9"/>
                </a:solidFill>
                <a:latin typeface="PingFang SC"/>
              </a:rPr>
              <a:t>3合1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178"/>
                </a:solidFill>
                <a:latin typeface="PingFang SC"/>
              </a:rPr>
              <a:t>传感器融合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79" y="4206240"/>
            <a:ext cx="3474720" cy="2011680"/>
          </a:xfrm>
          <a:prstGeom prst="rect">
            <a:avLst/>
          </a:prstGeom>
          <a:solidFill>
            <a:srgbClr val="EEF6FF"/>
          </a:solidFill>
          <a:ln w="12700"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448055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57D9"/>
                </a:solidFill>
                <a:latin typeface="PingFang SC"/>
              </a:rPr>
              <a:t>蓝牙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178"/>
                </a:solidFill>
                <a:latin typeface="PingFang SC"/>
              </a:rPr>
              <a:t>APP控制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4206240"/>
            <a:ext cx="3474720" cy="2011680"/>
          </a:xfrm>
          <a:prstGeom prst="rect">
            <a:avLst/>
          </a:prstGeom>
          <a:solidFill>
            <a:srgbClr val="EEF6FF"/>
          </a:solidFill>
          <a:ln w="12700"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59" y="448055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57D9"/>
                </a:solidFill>
                <a:latin typeface="PingFang SC"/>
              </a:rPr>
              <a:t>IP68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178"/>
                </a:solidFill>
                <a:latin typeface="PingFang SC"/>
              </a:rPr>
              <a:t>防水等级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7D9"/>
                </a:solidFill>
                <a:latin typeface="PingFang SC"/>
              </a:rPr>
              <a:t>04 ·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2E"/>
                </a:solidFill>
                <a:latin typeface="PingFang SC"/>
              </a:rPr>
              <a:t>市场规模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6178"/>
                </a:solidFill>
                <a:latin typeface="PingFang SC"/>
              </a:rPr>
              <a:t>泳池经济快速增长，智能化升级需求爆发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AA0B4"/>
                </a:solidFill>
                <a:latin typeface="PingFang SC"/>
              </a:rPr>
              <a:t>中国泳池市场规模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57D9"/>
                </a:solidFill>
                <a:latin typeface="PingFang SC"/>
              </a:rPr>
              <a:t>¥380亿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AA0B4"/>
                </a:solidFill>
                <a:latin typeface="PingFang SC"/>
              </a:rPr>
              <a:t>2025年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97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C759"/>
                </a:solidFill>
                <a:latin typeface="PingFang SC"/>
              </a:rPr>
              <a:t>+18% 年增速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210312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AA0B4"/>
                </a:solidFill>
                <a:latin typeface="PingFang SC"/>
              </a:rPr>
              <a:t>智能清洁设备渗透率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7432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57D9"/>
                </a:solidFill>
                <a:latin typeface="PingFang SC"/>
              </a:rPr>
              <a:t>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840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AA0B4"/>
                </a:solidFill>
                <a:latin typeface="PingFang SC"/>
              </a:rPr>
              <a:t>当前 → 2030年 45%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297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C759"/>
                </a:solidFill>
                <a:latin typeface="PingFang SC"/>
              </a:rPr>
              <a:t>+24% CAGR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210312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AA0B4"/>
                </a:solidFill>
                <a:latin typeface="PingFang SC"/>
              </a:rPr>
              <a:t>目标用户规模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7432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57D9"/>
                </a:solidFill>
                <a:latin typeface="PingFang SC"/>
              </a:rPr>
              <a:t>1,200万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840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AA0B4"/>
                </a:solidFill>
                <a:latin typeface="PingFang SC"/>
              </a:rPr>
              <a:t>B端+C端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297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D9"/>
                </a:solidFill>
                <a:latin typeface="PingFang SC"/>
              </a:rPr>
              <a:t>民宿/酒店/私家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0A0D0"/>
                </a:solidFill>
                <a:latin typeface="PingFang SC"/>
              </a:rPr>
              <a:t>05 ·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PingFang SC"/>
              </a:rPr>
              <a:t>商业模式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0D8F0"/>
                </a:solidFill>
                <a:latin typeface="PingFang SC"/>
              </a:rPr>
              <a:t>硬件 + 订阅服务 + 耗材，复合收入结构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3474720" cy="4114800"/>
          </a:xfrm>
          <a:prstGeom prst="rect">
            <a:avLst/>
          </a:prstGeom>
          <a:solidFill>
            <a:srgbClr val="012050"/>
          </a:solidFill>
          <a:ln w="12700">
            <a:solidFill>
              <a:srgbClr val="1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90C0"/>
                </a:solidFill>
                <a:latin typeface="PingFang SC"/>
              </a:rPr>
              <a:t>硬件销售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PingFang SC"/>
              </a:rPr>
              <a:t>¥8,800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6616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  <a:latin typeface="PingFang SC"/>
              </a:rPr>
              <a:t>Nereus-S1 机器人本体
一次性销售
线上+线下渠道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2103120"/>
            <a:ext cx="3474720" cy="4114800"/>
          </a:xfrm>
          <a:prstGeom prst="rect">
            <a:avLst/>
          </a:prstGeom>
          <a:solidFill>
            <a:srgbClr val="012050"/>
          </a:solidFill>
          <a:ln w="12700">
            <a:solidFill>
              <a:srgbClr val="1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90C0"/>
                </a:solidFill>
                <a:latin typeface="PingFang SC"/>
              </a:rPr>
              <a:t>订阅服务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7432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PingFang SC"/>
              </a:rPr>
              <a:t>¥499/年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56616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  <a:latin typeface="PingFang SC"/>
              </a:rPr>
              <a:t>云端管家 + AI水质周报
高复购、高毛利
现金流稳定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2103120"/>
            <a:ext cx="3474720" cy="4114800"/>
          </a:xfrm>
          <a:prstGeom prst="rect">
            <a:avLst/>
          </a:prstGeom>
          <a:solidFill>
            <a:srgbClr val="012050"/>
          </a:solidFill>
          <a:ln w="12700">
            <a:solidFill>
              <a:srgbClr val="1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90C0"/>
                </a:solidFill>
                <a:latin typeface="PingFang SC"/>
              </a:rPr>
              <a:t>上门服务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7432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PingFang SC"/>
              </a:rPr>
              <a:t>¥1,899/季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6616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  <a:latin typeface="PingFang SC"/>
              </a:rPr>
              <a:t>深度清洁 + 药剂补给
面向B端
高客单价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7D9"/>
                </a:solidFill>
                <a:latin typeface="PingFang SC"/>
              </a:rPr>
              <a:t>06 ·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2E"/>
                </a:solidFill>
                <a:latin typeface="PingFang SC"/>
              </a:rPr>
              <a:t>竞争优势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6178"/>
                </a:solidFill>
                <a:latin typeface="PingFang SC"/>
              </a:rPr>
              <a:t>三大壁垒，构建难以复制的护城河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2E"/>
                </a:solidFill>
                <a:latin typeface="PingFang SC"/>
              </a:rPr>
              <a:t>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26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PingFang SC"/>
              </a:rPr>
              <a:t>技术壁垒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178"/>
                </a:solidFill>
                <a:latin typeface="PingFang SC"/>
              </a:rPr>
              <a:t>多传感器融合算法、边缘计算、自适应路径规划，3项核心专利申请中。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210312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2860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2E"/>
                </a:solidFill>
                <a:latin typeface="PingFang SC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926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PingFang SC"/>
              </a:rPr>
              <a:t>数据壁垒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47472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178"/>
                </a:solidFill>
                <a:latin typeface="PingFang SC"/>
              </a:rPr>
              <a:t>水质数据库持续积累，AI模型随用户规模不断优化，后来者难以追赶。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210312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22860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1A2E"/>
                </a:solidFill>
                <a:latin typeface="PingFang SC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926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PingFang SC"/>
              </a:rPr>
              <a:t>生态壁垒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47472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178"/>
                </a:solidFill>
                <a:latin typeface="PingFang SC"/>
              </a:rPr>
              <a:t>硬件+APP+云平台三位一体，订阅服务锁定用户，高转换成本降低流失率。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7D9"/>
                </a:solidFill>
                <a:latin typeface="PingFang SC"/>
              </a:rPr>
              <a:t>07 ·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2E"/>
                </a:solidFill>
                <a:latin typeface="PingFang SC"/>
              </a:rPr>
              <a:t>核心团队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6178"/>
                </a:solidFill>
                <a:latin typeface="PingFang SC"/>
              </a:rPr>
              <a:t>跨学科背景，产学研深度融合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560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2468879"/>
            <a:ext cx="914400" cy="914400"/>
          </a:xfrm>
          <a:prstGeom prst="rect">
            <a:avLst/>
          </a:prstGeom>
          <a:solidFill>
            <a:srgbClr val="005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PingFang SC"/>
              </a:rPr>
              <a:t>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PingFang SC"/>
              </a:rPr>
              <a:t>张XX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690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57D9"/>
                </a:solidFill>
                <a:latin typeface="PingFang SC"/>
              </a:rPr>
              <a:t>创始人 &amp; CEO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26279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178"/>
                </a:solidFill>
                <a:latin typeface="PingFang SC"/>
              </a:rPr>
              <a:t>XX大学 MBA
10年智能硬件经验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194560"/>
            <a:ext cx="2560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468879"/>
            <a:ext cx="914400" cy="914400"/>
          </a:xfrm>
          <a:prstGeom prst="rect">
            <a:avLst/>
          </a:prstGeom>
          <a:solidFill>
            <a:srgbClr val="005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51460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PingFang SC"/>
              </a:rPr>
              <a:t>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PingFang SC"/>
              </a:rPr>
              <a:t>李XX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690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57D9"/>
                </a:solidFill>
                <a:latin typeface="PingFang SC"/>
              </a:rPr>
              <a:t>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526279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178"/>
                </a:solidFill>
                <a:latin typeface="PingFang SC"/>
              </a:rPr>
              <a:t>XX大学 博士
机器人算法专家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194560"/>
            <a:ext cx="2560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2468879"/>
            <a:ext cx="914400" cy="914400"/>
          </a:xfrm>
          <a:prstGeom prst="rect">
            <a:avLst/>
          </a:prstGeom>
          <a:solidFill>
            <a:srgbClr val="005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251460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PingFang SC"/>
              </a:rPr>
              <a:t>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PingFang SC"/>
              </a:rPr>
              <a:t>王XX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0690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57D9"/>
                </a:solidFill>
                <a:latin typeface="PingFang SC"/>
              </a:rPr>
              <a:t>COO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526279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178"/>
                </a:solidFill>
                <a:latin typeface="PingFang SC"/>
              </a:rPr>
              <a:t>前XX科技运营总监
精益生产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2560" y="2194560"/>
            <a:ext cx="2560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5520" y="2468879"/>
            <a:ext cx="914400" cy="914400"/>
          </a:xfrm>
          <a:prstGeom prst="rect">
            <a:avLst/>
          </a:prstGeom>
          <a:solidFill>
            <a:srgbClr val="005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51460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PingFang SC"/>
              </a:rPr>
              <a:t>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566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PingFang SC"/>
              </a:rPr>
              <a:t>陈XX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40690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57D9"/>
                </a:solidFill>
                <a:latin typeface="PingFang SC"/>
              </a:rPr>
              <a:t>市场总监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526279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178"/>
                </a:solidFill>
                <a:latin typeface="PingFang SC"/>
              </a:rPr>
              <a:t>泳池行业8年
渠道经验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0A0D0"/>
                </a:solidFill>
                <a:latin typeface="PingFang SC"/>
              </a:rPr>
              <a:t>08 ·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PingFang SC"/>
              </a:rPr>
              <a:t>发展规划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0D8F0"/>
                </a:solidFill>
                <a:latin typeface="PingFang SC"/>
              </a:rPr>
              <a:t>清晰路径，稳扎稳打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194560"/>
            <a:ext cx="36576" cy="4114800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2194560"/>
            <a:ext cx="228600" cy="228600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1762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AFF"/>
                </a:solidFill>
                <a:latin typeface="PingFang SC"/>
              </a:rPr>
              <a:t>2026 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871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SC"/>
              </a:rPr>
              <a:t>完成产品量产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80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0"/>
                </a:solidFill>
                <a:latin typeface="PingFang SC"/>
              </a:rPr>
              <a:t>小批量生产500台，建立供应链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246120"/>
            <a:ext cx="228600" cy="228600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32278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AFF"/>
                </a:solidFill>
                <a:latin typeface="PingFang SC"/>
              </a:rPr>
              <a:t>2026 Q4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38727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SC"/>
              </a:rPr>
              <a:t>种子用户验证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31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0"/>
                </a:solidFill>
                <a:latin typeface="PingFang SC"/>
              </a:rPr>
              <a:t>B端民宿30家+C端50台，月流水破10万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4297679"/>
            <a:ext cx="228600" cy="228600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42793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AFF"/>
                </a:solidFill>
                <a:latin typeface="PingFang SC"/>
              </a:rPr>
              <a:t>2027 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5902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SC"/>
              </a:rPr>
              <a:t>A轮融资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9834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0"/>
                </a:solidFill>
                <a:latin typeface="PingFang SC"/>
              </a:rPr>
              <a:t>目标融资500万，用于扩产+市场推广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5349240"/>
            <a:ext cx="228600" cy="228600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5330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AFF"/>
                </a:solidFill>
                <a:latin typeface="PingFang SC"/>
              </a:rPr>
              <a:t>2028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6418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SC"/>
              </a:rPr>
              <a:t>市场占有率目标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6035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E0"/>
                </a:solidFill>
                <a:latin typeface="PingFang SC"/>
              </a:rPr>
              <a:t>B端TOP3，年营收突破3000万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2194560"/>
            <a:ext cx="4846320" cy="1828800"/>
          </a:xfrm>
          <a:prstGeom prst="rect">
            <a:avLst/>
          </a:prstGeom>
          <a:solidFill>
            <a:srgbClr val="012050"/>
          </a:solidFill>
          <a:ln w="12700">
            <a:solidFill>
              <a:srgbClr val="1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23317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90C0"/>
                </a:solidFill>
                <a:latin typeface="PingFang SC"/>
              </a:rPr>
              <a:t>累计融资金额目标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74320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PingFang SC"/>
              </a:rPr>
              <a:t>¥800万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52044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90C0"/>
                </a:solidFill>
                <a:latin typeface="PingFang SC"/>
              </a:rPr>
              <a:t>种子轮 + A轮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206240"/>
            <a:ext cx="4846320" cy="1828800"/>
          </a:xfrm>
          <a:prstGeom prst="rect">
            <a:avLst/>
          </a:prstGeom>
          <a:solidFill>
            <a:srgbClr val="012050"/>
          </a:solidFill>
          <a:ln w="12700">
            <a:solidFill>
              <a:srgbClr val="1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43434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90C0"/>
                </a:solidFill>
                <a:latin typeface="PingFang SC"/>
              </a:rPr>
              <a:t>3年后估值目标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7548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PingFang SC"/>
              </a:rPr>
              <a:t>¥1亿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53212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090C0"/>
                </a:solidFill>
                <a:latin typeface="PingFang SC"/>
              </a:rPr>
              <a:t>B轮前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A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0A0D0"/>
                </a:solidFill>
                <a:latin typeface="PingFang SC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PingFang SC"/>
              </a:rPr>
              <a:t>感谢聆听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0D8F0"/>
                </a:solidFill>
                <a:latin typeface="PingFang SC"/>
              </a:rPr>
              <a:t>期待与您深入交流，共同推动泳池智能化变革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PingFang SC"/>
              </a:rPr>
              <a:t>📧  contact@shuboat.com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32004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PingFang SC"/>
              </a:rPr>
              <a:t>📱  138-0000-0000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32004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PingFang SC"/>
              </a:rPr>
              <a:t>🌐  www.shuboat.com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090C0"/>
                </a:solidFill>
                <a:latin typeface="PingFang SC"/>
              </a:rPr>
              <a:t>沭波特智能科技（深圳）有限公司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